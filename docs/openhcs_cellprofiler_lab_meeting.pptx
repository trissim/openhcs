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8129016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172B4D"/>
                </a:solidFill>
              </a:defRPr>
            </a:pPr>
            <a:r>
              <a:t>Cell Profiler Support on OpenHCS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95057"/>
                </a:solidFill>
              </a:defRPr>
            </a:pPr>
            <a:r>
              <a:t>Prepared for lab meeting | v7 figures | 25-pipeline and 33-pipeline figure sets in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72B4D"/>
                </a:solidFill>
              </a:defRPr>
            </a:pPr>
            <a:r>
              <a:t>CellProfiler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5166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8B8D"/>
                </a:solidFill>
              </a:defRPr>
            </a:pPr>
            <a:r>
              <a:t>A trusted image-analysis workhorse since the early 2000s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18" y="1697126"/>
            <a:ext cx="6236208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B4D"/>
                </a:solidFill>
              </a:defRPr>
            </a:pPr>
            <a:r>
              <a:t>Started in 2003; released as open-source software in 2005.</a:t>
            </a:r>
          </a:p>
          <a:p>
            <a:pPr>
              <a:spcAft>
                <a:spcPts val="1000"/>
              </a:spcAft>
              <a:defRPr sz="1900">
                <a:solidFill>
                  <a:srgbClr val="172B4D"/>
                </a:solidFill>
              </a:defRPr>
            </a:pPr>
            <a:r>
              <a:t>Official site lists 61 public published-pipeline entries: 58 downloads plus 3 GitHub repos.</a:t>
            </a:r>
          </a:p>
          <a:p>
            <a:pPr>
              <a:spcAft>
                <a:spcPts val="1000"/>
              </a:spcAft>
              <a:defRPr sz="1900">
                <a:solidFill>
                  <a:srgbClr val="172B4D"/>
                </a:solidFill>
              </a:defRPr>
            </a:pPr>
            <a:r>
              <a:t>Company example: Recursion publicly describes using CellProfiler plus CNNs in its image-processing pipeline.</a:t>
            </a:r>
          </a:p>
          <a:p>
            <a:pPr>
              <a:spcAft>
                <a:spcPts val="1000"/>
              </a:spcAft>
              <a:defRPr sz="1900">
                <a:solidFill>
                  <a:srgbClr val="172B4D"/>
                </a:solidFill>
              </a:defRPr>
            </a:pPr>
            <a:r>
              <a:t>Industry links go back to the original paper: Merck and Novartis fellowships helped support early development.</a:t>
            </a:r>
          </a:p>
          <a:p>
            <a:pPr>
              <a:spcAft>
                <a:spcPts val="1000"/>
              </a:spcAft>
              <a:defRPr sz="1900">
                <a:solidFill>
                  <a:srgbClr val="172B4D"/>
                </a:solidFill>
              </a:defRPr>
            </a:pPr>
            <a:r>
              <a:t>NIH RePORTER lists $6.16M for Broad/Carpenter image-based profiling grant R35GM122547 from FY2017-2026.</a:t>
            </a:r>
          </a:p>
        </p:txBody>
      </p:sp>
      <p:pic>
        <p:nvPicPr>
          <p:cNvPr id="6" name="Picture 5" descr="cellprofilershuffle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987552"/>
            <a:ext cx="55778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72B4D"/>
                </a:solidFill>
              </a:defRPr>
            </a:pPr>
            <a:r>
              <a:t>OpenHCS Sits Between The Tools We Already Use</a:t>
            </a:r>
          </a:p>
        </p:txBody>
      </p:sp>
      <p:pic>
        <p:nvPicPr>
          <p:cNvPr id="4" name="Picture 3" descr="ome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59" y="1344168"/>
            <a:ext cx="4091939" cy="714146"/>
          </a:xfrm>
          <a:prstGeom prst="rect">
            <a:avLst/>
          </a:prstGeom>
        </p:spPr>
      </p:pic>
      <p:pic>
        <p:nvPicPr>
          <p:cNvPr id="5" name="Picture 4" descr="fij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143000"/>
            <a:ext cx="2514600" cy="2514600"/>
          </a:xfrm>
          <a:prstGeom prst="rect">
            <a:avLst/>
          </a:prstGeom>
        </p:spPr>
      </p:pic>
      <p:pic>
        <p:nvPicPr>
          <p:cNvPr id="6" name="Picture 5" descr="cp_logo_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45436"/>
            <a:ext cx="5280660" cy="1313078"/>
          </a:xfrm>
          <a:prstGeom prst="rect">
            <a:avLst/>
          </a:prstGeom>
        </p:spPr>
      </p:pic>
      <p:pic>
        <p:nvPicPr>
          <p:cNvPr id="7" name="Picture 6" descr="napari_logo-300x300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868680"/>
            <a:ext cx="3429000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3977639"/>
            <a:ext cx="3017520" cy="1143000"/>
          </a:xfrm>
          <a:prstGeom prst="roundRect">
            <a:avLst/>
          </a:prstGeom>
          <a:solidFill>
            <a:srgbClr val="FFEFE0"/>
          </a:solidFill>
          <a:ln>
            <a:solidFill>
              <a:srgbClr val="D95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D95F02"/>
                </a:solidFill>
              </a:defRPr>
            </a:pPr>
            <a:r>
              <a:t>Bring it in</a:t>
            </a:r>
          </a:p>
          <a:p>
            <a:pPr algn="ctr">
              <a:defRPr sz="1100">
                <a:solidFill>
                  <a:srgbClr val="495057"/>
                </a:solidFill>
              </a:defRPr>
            </a:pPr>
            <a:r>
              <a:t>CellProfiler pipelines and microscope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977639"/>
            <a:ext cx="3017520" cy="1143000"/>
          </a:xfrm>
          <a:prstGeom prst="roundRect">
            <a:avLst/>
          </a:prstGeom>
          <a:solidFill>
            <a:srgbClr val="E2F4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F8B8D"/>
                </a:solidFill>
              </a:defRPr>
            </a:pPr>
            <a:r>
              <a:t>Run it</a:t>
            </a:r>
          </a:p>
          <a:p>
            <a:pPr algn="ctr">
              <a:defRPr sz="1100">
                <a:solidFill>
                  <a:srgbClr val="495057"/>
                </a:solidFill>
              </a:defRPr>
            </a:pPr>
            <a:r>
              <a:t>OpenHCS runs the work and keeps the outputs comparable.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977639"/>
            <a:ext cx="3017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72B4D"/>
                </a:solidFill>
              </a:defRPr>
            </a:pPr>
            <a:r>
              <a:t>Look at it</a:t>
            </a:r>
          </a:p>
          <a:p>
            <a:pPr algn="ctr">
              <a:defRPr sz="1100">
                <a:solidFill>
                  <a:srgbClr val="495057"/>
                </a:solidFill>
              </a:defRPr>
            </a:pPr>
            <a:r>
              <a:t>Results can go to napari, OMERO-style storage, Fiji/ImageJ, and 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B4D"/>
                </a:solidFill>
              </a:defRPr>
            </a:pPr>
            <a:r>
              <a:t>Message: OpenHCS is a bridge, not a replacement for the tools biologists already know.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72B4D"/>
                </a:solidFill>
              </a:defRPr>
            </a:pPr>
            <a:r>
              <a:t>The Benchmarks Cover Real Imaging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amplecolocalization_orig_1.png"/>
          <p:cNvPicPr>
            <a:picLocks noChangeAspect="1"/>
          </p:cNvPicPr>
          <p:nvPr/>
        </p:nvPicPr>
        <p:blipFill>
          <a:blip r:embed="rId2"/>
          <a:srcRect t="16915" b="16915"/>
          <a:stretch>
            <a:fillRect/>
          </a:stretch>
        </p:blipFill>
        <p:spPr>
          <a:xfrm>
            <a:off x="502920" y="932688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502920" y="2368296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Colocalization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1568" y="932688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amplecolocalization_masked_1.png"/>
          <p:cNvPicPr>
            <a:picLocks noChangeAspect="1"/>
          </p:cNvPicPr>
          <p:nvPr/>
        </p:nvPicPr>
        <p:blipFill>
          <a:blip r:embed="rId3"/>
          <a:srcRect t="16915" b="16915"/>
          <a:stretch>
            <a:fillRect/>
          </a:stretch>
        </p:blipFill>
        <p:spPr>
          <a:xfrm>
            <a:off x="3401568" y="932688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3401568" y="2368296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Colocalization mask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216" y="932688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umannuclei_3.jpg"/>
          <p:cNvPicPr>
            <a:picLocks noChangeAspect="1"/>
          </p:cNvPicPr>
          <p:nvPr/>
        </p:nvPicPr>
        <p:blipFill>
          <a:blip r:embed="rId4"/>
          <a:srcRect t="19672" b="19672"/>
          <a:stretch>
            <a:fillRect/>
          </a:stretch>
        </p:blipFill>
        <p:spPr>
          <a:xfrm>
            <a:off x="6300216" y="932688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300216" y="2368296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Human nuclei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98864" y="932688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umancolornucleism_2.jpg"/>
          <p:cNvPicPr>
            <a:picLocks noChangeAspect="1"/>
          </p:cNvPicPr>
          <p:nvPr/>
        </p:nvPicPr>
        <p:blipFill>
          <a:blip r:embed="rId5"/>
          <a:srcRect t="19672" b="19672"/>
          <a:stretch>
            <a:fillRect/>
          </a:stretch>
        </p:blipFill>
        <p:spPr>
          <a:xfrm>
            <a:off x="9198864" y="932688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9198864" y="2368296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Human color overlay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34056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ruitflyimg_1.jpg"/>
          <p:cNvPicPr>
            <a:picLocks noChangeAspect="1"/>
          </p:cNvPicPr>
          <p:nvPr/>
        </p:nvPicPr>
        <p:blipFill>
          <a:blip r:embed="rId6"/>
          <a:srcRect t="16757" b="16757"/>
          <a:stretch>
            <a:fillRect/>
          </a:stretch>
        </p:blipFill>
        <p:spPr>
          <a:xfrm>
            <a:off x="502920" y="2734056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02920" y="4169664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Fly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2734056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ruitfly-coded_1.jpg"/>
          <p:cNvPicPr>
            <a:picLocks noChangeAspect="1"/>
          </p:cNvPicPr>
          <p:nvPr/>
        </p:nvPicPr>
        <p:blipFill>
          <a:blip r:embed="rId7"/>
          <a:srcRect t="16814" b="16814"/>
          <a:stretch>
            <a:fillRect/>
          </a:stretch>
        </p:blipFill>
        <p:spPr>
          <a:xfrm>
            <a:off x="3401568" y="2734056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21" name="Rectangle 20"/>
          <p:cNvSpPr/>
          <p:nvPr/>
        </p:nvSpPr>
        <p:spPr>
          <a:xfrm>
            <a:off x="3401568" y="4169664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Fly objects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2734056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xamplecometimg_1.png"/>
          <p:cNvPicPr>
            <a:picLocks noChangeAspect="1"/>
          </p:cNvPicPr>
          <p:nvPr/>
        </p:nvPicPr>
        <p:blipFill>
          <a:blip r:embed="rId8"/>
          <a:srcRect t="9563" b="9563"/>
          <a:stretch>
            <a:fillRect/>
          </a:stretch>
        </p:blipFill>
        <p:spPr>
          <a:xfrm>
            <a:off x="6300216" y="2734056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24" name="Rectangle 23"/>
          <p:cNvSpPr/>
          <p:nvPr/>
        </p:nvSpPr>
        <p:spPr>
          <a:xfrm>
            <a:off x="6300216" y="4169664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Comet assay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98864" y="2734056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xamplecometid_4.png"/>
          <p:cNvPicPr>
            <a:picLocks noChangeAspect="1"/>
          </p:cNvPicPr>
          <p:nvPr/>
        </p:nvPicPr>
        <p:blipFill>
          <a:blip r:embed="rId9"/>
          <a:srcRect t="9563" b="9563"/>
          <a:stretch>
            <a:fillRect/>
          </a:stretch>
        </p:blipFill>
        <p:spPr>
          <a:xfrm>
            <a:off x="9198864" y="2734056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9198864" y="4169664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Comet objects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535424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xampletumorimg_5.png"/>
          <p:cNvPicPr>
            <a:picLocks noChangeAspect="1"/>
          </p:cNvPicPr>
          <p:nvPr/>
        </p:nvPicPr>
        <p:blipFill>
          <a:blip r:embed="rId10"/>
          <a:srcRect t="9563" b="9563"/>
          <a:stretch>
            <a:fillRect/>
          </a:stretch>
        </p:blipFill>
        <p:spPr>
          <a:xfrm>
            <a:off x="502920" y="4535424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30" name="Rectangle 29"/>
          <p:cNvSpPr/>
          <p:nvPr/>
        </p:nvSpPr>
        <p:spPr>
          <a:xfrm>
            <a:off x="502920" y="5971032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Tumor image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4535424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exampletumorid_1.png"/>
          <p:cNvPicPr>
            <a:picLocks noChangeAspect="1"/>
          </p:cNvPicPr>
          <p:nvPr/>
        </p:nvPicPr>
        <p:blipFill>
          <a:blip r:embed="rId11"/>
          <a:srcRect t="9563" b="9563"/>
          <a:stretch>
            <a:fillRect/>
          </a:stretch>
        </p:blipFill>
        <p:spPr>
          <a:xfrm>
            <a:off x="3401568" y="4535424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33" name="Rectangle 32"/>
          <p:cNvSpPr/>
          <p:nvPr/>
        </p:nvSpPr>
        <p:spPr>
          <a:xfrm>
            <a:off x="3401568" y="5971032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Tumor objects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4535424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xampleyeastpatch_1.png"/>
          <p:cNvPicPr>
            <a:picLocks noChangeAspect="1"/>
          </p:cNvPicPr>
          <p:nvPr/>
        </p:nvPicPr>
        <p:blipFill>
          <a:blip r:embed="rId12"/>
          <a:srcRect t="20430" b="20430"/>
          <a:stretch>
            <a:fillRect/>
          </a:stretch>
        </p:blipFill>
        <p:spPr>
          <a:xfrm>
            <a:off x="6300216" y="4535424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36" name="Rectangle 35"/>
          <p:cNvSpPr/>
          <p:nvPr/>
        </p:nvSpPr>
        <p:spPr>
          <a:xfrm>
            <a:off x="6300216" y="5971032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Yeast patches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8864" y="4535424"/>
            <a:ext cx="27889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exampleyeastpatchid_1.png"/>
          <p:cNvPicPr>
            <a:picLocks noChangeAspect="1"/>
          </p:cNvPicPr>
          <p:nvPr/>
        </p:nvPicPr>
        <p:blipFill>
          <a:blip r:embed="rId13"/>
          <a:srcRect t="20430" b="20430"/>
          <a:stretch>
            <a:fillRect/>
          </a:stretch>
        </p:blipFill>
        <p:spPr>
          <a:xfrm>
            <a:off x="9198864" y="4535424"/>
            <a:ext cx="2788920" cy="1691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39" name="Rectangle 38"/>
          <p:cNvSpPr/>
          <p:nvPr/>
        </p:nvSpPr>
        <p:spPr>
          <a:xfrm>
            <a:off x="9198864" y="5971032"/>
            <a:ext cx="2788920" cy="25603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Yeast objects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Do The Results Still Match?</a:t>
            </a:r>
          </a:p>
        </p:txBody>
      </p:sp>
      <p:pic>
        <p:nvPicPr>
          <p:cNvPr id="3" name="Picture 2" descr="cppipe_accuracy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4028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How Long Does It Take?</a:t>
            </a:r>
          </a:p>
        </p:txBody>
      </p:sp>
      <p:pic>
        <p:nvPicPr>
          <p:cNvPr id="3" name="Picture 2" descr="cppipe_raw_seco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126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Same Runtime Chart, Log Scale</a:t>
            </a:r>
          </a:p>
        </p:txBody>
      </p:sp>
      <p:pic>
        <p:nvPicPr>
          <p:cNvPr id="3" name="Picture 2" descr="cppipe_raw_second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131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Speedup On One Core</a:t>
            </a:r>
          </a:p>
        </p:txBody>
      </p:sp>
      <p:pic>
        <p:nvPicPr>
          <p:cNvPr id="3" name="Picture 2" descr="cppipe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126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Same Speedup Chart, Log Scale</a:t>
            </a:r>
          </a:p>
        </p:txBody>
      </p:sp>
      <p:pic>
        <p:nvPicPr>
          <p:cNvPr id="3" name="Picture 2" descr="cppipe_speedup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126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Speedup By Assay Type</a:t>
            </a:r>
          </a:p>
        </p:txBody>
      </p:sp>
      <p:pic>
        <p:nvPicPr>
          <p:cNvPr id="3" name="Picture 2" descr="cppipe_v7_assay_category_speedup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0642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Speedup By Assay Type, Log Scale</a:t>
            </a:r>
          </a:p>
        </p:txBody>
      </p:sp>
      <p:pic>
        <p:nvPicPr>
          <p:cNvPr id="3" name="Picture 2" descr="cppipe_v7_assay_category_speedup_dot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0642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Speedup By Analysis Type</a:t>
            </a:r>
          </a:p>
        </p:txBody>
      </p:sp>
      <p:pic>
        <p:nvPicPr>
          <p:cNvPr id="3" name="Picture 2" descr="cppipe_v7_module_category_speedup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0642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Speedup By Analysis Type, Log Scale</a:t>
            </a:r>
          </a:p>
        </p:txBody>
      </p:sp>
      <p:pic>
        <p:nvPicPr>
          <p:cNvPr id="3" name="Picture 2" descr="cppipe_v7_module_category_speedup_dot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0642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Measured Throughput: One Sample vs More Samples</a:t>
            </a:r>
          </a:p>
        </p:txBody>
      </p:sp>
      <p:pic>
        <p:nvPicPr>
          <p:cNvPr id="3" name="Picture 2" descr="cppipe_throughput_measured_selected_measured_throughput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0642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72B4D"/>
                </a:solidFill>
              </a:defRPr>
            </a:pPr>
            <a:r>
              <a:t>Measured 3-Core Scaling Across 12 Wells</a:t>
            </a:r>
          </a:p>
        </p:txBody>
      </p:sp>
      <p:pic>
        <p:nvPicPr>
          <p:cNvPr id="3" name="Picture 2" descr="cppipe_well12_workers3_well_throughpu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60120"/>
            <a:ext cx="11201400" cy="50642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72B4D"/>
                </a:solidFill>
              </a:defRPr>
            </a:pPr>
            <a:r>
              <a:t>What We Can Say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8B8D"/>
                </a:solidFill>
              </a:defRPr>
            </a:pPr>
            <a:r>
              <a:t>This is the polished figure set for lab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69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18 official CellProfiler example pipelines are plotted here.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All 18 pass the result check.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All 18 are at least 4x faster on one core.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More pipelines are being added, but these are the clean figures for now.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72B4D"/>
                </a:solidFill>
              </a:defRPr>
            </a:pPr>
            <a:r>
              <a:t>Main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8B8D"/>
                </a:solidFill>
              </a:defRPr>
            </a:pPr>
            <a:r>
              <a:t>Same trusted result shape, much faster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69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CellProfiler is a major scientific imaging tool, so matching it matters.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OpenHCS keeps the CellProfiler-style outputs while running faster.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The v7 figures show at least 4x speedup across all 18 plotted pipelines.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OpenHCS also gives one place to connect CellProfiler, napari, Fiji/ImageJ, and OMERO-style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72B4D"/>
                </a:solidFill>
              </a:defRPr>
            </a:pPr>
            <a:r>
              <a:t>Sources And Claim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69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NIGMS Biomedical Beat: CellProfiler cited in more than 15,000 scientific papers.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Genome Biology metrics: CellProfiler 2006 paper around 4,968 citations.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CellProfiler site: project started in 2003 and lists 61 public published-pipeline entries.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NIH RePORTER: Broad/Carpenter R35GM122547 award rows total $6.16M from FY2017-2026.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Genome Biology 2006 paper: early support included Merck and Novartis fellowships.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Google Cloud Recursion case study: Recursion uses CellProfiler plus CNNs in its imaging pipeline.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Broad/CellProfiler pages: use cases, open-source framing, and sustained funding/support context.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OpenHCS README: Fiji/ImageJ, napari, storage, and integration framing.</a:t>
            </a:r>
          </a:p>
          <a:p>
            <a:pPr>
              <a:spcAft>
                <a:spcPts val="1300"/>
              </a:spcAft>
              <a:defRPr sz="2100">
                <a:solidFill>
                  <a:srgbClr val="172B4D"/>
                </a:solidFill>
              </a:defRPr>
            </a:pPr>
            <a:r>
              <a:t>Performance figures: v7 OpenHCS benchmark outputs from 18 official CellProfiler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95057"/>
                </a:solidFill>
              </a:defRPr>
            </a:pPr>
            <a:r>
              <a:t>Exact URLs are listed in docs/lab_meeting_cellprofiler_openhcs_slides.md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